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handoutMasterIdLst>
    <p:handoutMasterId r:id="rId8"/>
  </p:handoutMasterIdLst>
  <p:sldIdLst>
    <p:sldId id="272" r:id="rId2"/>
    <p:sldId id="273" r:id="rId3"/>
    <p:sldId id="274" r:id="rId4"/>
    <p:sldId id="275" r:id="rId5"/>
    <p:sldId id="276" r:id="rId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3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502ED-38DF-43AC-A8CD-F9D3E3173CC4}" type="datetime1">
              <a:rPr lang="es-ES" smtClean="0"/>
              <a:t>24/08/2026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097EB-C63E-4831-9239-7FC098CD3FD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08344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4DAD7FE-6CFB-4941-843F-5B8FA3E21170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93B0CF2-7F87-4E02-A248-870047730F9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2574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5594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2912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6254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Rectángulo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cxnSp>
          <p:nvCxnSpPr>
            <p:cNvPr id="7" name="Conector recto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Conector recto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kumimoji="0" lang="es-ES" noProof="0" dirty="0"/>
          </a:p>
        </p:txBody>
      </p:sp>
      <p:sp>
        <p:nvSpPr>
          <p:cNvPr id="30" name="Marcador de fecha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F0D198-0886-401E-862C-EF3536AA44DD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19" name="Marcador de pie de página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27" name="Marcador de número de diapositiva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672DA2-4E32-43A8-88C9-F7DB2E98E079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540A2F-3117-4E4B-AFC9-CB157300D9A8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983E3B-19EF-4B0A-B85C-B5EE2F3F66E9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EE2287-7AED-4508-BA8B-A33013696AEC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BD4DFD-A822-4FD8-BFBF-197CBA855426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84916D-9C1E-4B35-A1BA-B043FBD4F6CF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DA92C-EA07-4844-A9C0-7671CE0A3023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con una esquina recortada y redondeada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s-ES" sz="1800" noProof="0" dirty="0"/>
          </a:p>
        </p:txBody>
      </p:sp>
      <p:sp>
        <p:nvSpPr>
          <p:cNvPr id="12" name="Triángulo rectángulo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s-ES" sz="1800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es-ES" noProof="0"/>
              <a:t>Haga clic en el icono para agregar una imagen</a:t>
            </a:r>
            <a:endParaRPr kumimoji="0"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A37C7A-AEB8-4B08-B7A3-C61470375C39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0" name="Forma libre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es-E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bre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es-E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E184A9-C1BE-4691-8290-38F7E3B9E2EA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es-ES" noProof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/>
              <a:t>Segundo nivel</a:t>
            </a:r>
          </a:p>
          <a:p>
            <a:pPr lvl="2" rtl="0" eaLnBrk="1" latinLnBrk="0" hangingPunct="1"/>
            <a:r>
              <a:rPr lang="es-ES" noProof="0"/>
              <a:t>Tercer nivel</a:t>
            </a:r>
          </a:p>
          <a:p>
            <a:pPr lvl="3" rtl="0" eaLnBrk="1" latinLnBrk="0" hangingPunct="1"/>
            <a:r>
              <a:rPr lang="es-ES" noProof="0"/>
              <a:t>Cuarto nivel</a:t>
            </a:r>
          </a:p>
          <a:p>
            <a:pPr lvl="4" rtl="0" eaLnBrk="1" latinLnBrk="0" hangingPunct="1"/>
            <a:r>
              <a:rPr lang="es-ES" noProof="0"/>
              <a:t>Quinto nivel</a:t>
            </a:r>
            <a:endParaRPr kumimoji="0"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537EF8-1A52-460D-8FA5-88CB8E631AE8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Rectángulo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grpSp>
          <p:nvGrpSpPr>
            <p:cNvPr id="27" name="Grupo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Forma libre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es-E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Forma libre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es-E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Grupo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Forma libre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es-ES" sz="1800" noProof="0" dirty="0"/>
                </a:p>
              </p:txBody>
            </p:sp>
            <p:sp>
              <p:nvSpPr>
                <p:cNvPr id="33" name="Forma libre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es-ES" sz="1800" noProof="0" dirty="0"/>
                </a:p>
              </p:txBody>
            </p:sp>
          </p:grpSp>
        </p:grpSp>
      </p:grpSp>
      <p:sp>
        <p:nvSpPr>
          <p:cNvPr id="9" name="Marcador de título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  <a:endParaRPr kumimoji="0" lang="es-ES" noProof="0" dirty="0"/>
          </a:p>
        </p:txBody>
      </p:sp>
      <p:sp>
        <p:nvSpPr>
          <p:cNvPr id="30" name="Marcador de texto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es-ES" noProof="0" dirty="0"/>
              <a:t>Haga clic para modificar los estilos de texto del patrón</a:t>
            </a:r>
          </a:p>
          <a:p>
            <a:pPr lvl="1" rtl="0" eaLnBrk="1" latinLnBrk="0" hangingPunct="1"/>
            <a:r>
              <a:rPr lang="es-ES" noProof="0" dirty="0"/>
              <a:t>Segundo nivel</a:t>
            </a:r>
          </a:p>
          <a:p>
            <a:pPr lvl="2" rtl="0" eaLnBrk="1" latinLnBrk="0" hangingPunct="1"/>
            <a:r>
              <a:rPr lang="es-ES" noProof="0" dirty="0"/>
              <a:t>Tercer nivel</a:t>
            </a:r>
          </a:p>
          <a:p>
            <a:pPr lvl="3" rtl="0" eaLnBrk="1" latinLnBrk="0" hangingPunct="1"/>
            <a:r>
              <a:rPr lang="es-ES" noProof="0" dirty="0"/>
              <a:t>Cuarto nivel</a:t>
            </a:r>
          </a:p>
          <a:p>
            <a:pPr lvl="4" rtl="0" eaLnBrk="1" latinLnBrk="0" hangingPunct="1"/>
            <a:r>
              <a:rPr lang="es-ES" noProof="0" dirty="0"/>
              <a:t>Quinto nivel</a:t>
            </a:r>
          </a:p>
        </p:txBody>
      </p:sp>
      <p:sp>
        <p:nvSpPr>
          <p:cNvPr id="10" name="Marcador de fecha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fld id="{1811FD10-D06B-4536-8048-7D2897F296FB}" type="datetime1">
              <a:rPr lang="es-ES" noProof="0" smtClean="0"/>
              <a:t>24/08/2026</a:t>
            </a:fld>
            <a:endParaRPr lang="es-ES" noProof="0" dirty="0"/>
          </a:p>
        </p:txBody>
      </p:sp>
      <p:sp>
        <p:nvSpPr>
          <p:cNvPr id="22" name="Marcador de pie de página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18" name="Marcador de número de diapositiva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fld id="{401CF334-2D5C-4859-84A6-CA7E6E43FAEB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90000"/>
        </a:lnSpc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algn="ctr"/>
            <a:r>
              <a:rPr lang="es-CL" dirty="0" err="1"/>
              <a:t>Dashboard</a:t>
            </a:r>
            <a:r>
              <a:rPr lang="es-CL" dirty="0"/>
              <a:t> de Ventas e Inventario – </a:t>
            </a:r>
            <a:r>
              <a:rPr lang="es-CL" dirty="0" err="1"/>
              <a:t>SmartRetail</a:t>
            </a:r>
            <a:endParaRPr lang="es-ES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948069" y="3207026"/>
            <a:ext cx="2609971" cy="561586"/>
          </a:xfrm>
        </p:spPr>
        <p:txBody>
          <a:bodyPr rtlCol="0"/>
          <a:lstStyle/>
          <a:p>
            <a:r>
              <a:rPr lang="es-CL" dirty="0"/>
              <a:t>Desafío Power BI</a:t>
            </a:r>
            <a:endParaRPr lang="es-ES" dirty="0"/>
          </a:p>
        </p:txBody>
      </p:sp>
      <p:sp>
        <p:nvSpPr>
          <p:cNvPr id="2" name="Subtítulo 4">
            <a:extLst>
              <a:ext uri="{FF2B5EF4-FFF2-40B4-BE49-F238E27FC236}">
                <a16:creationId xmlns:a16="http://schemas.microsoft.com/office/drawing/2014/main" id="{9848C949-83C3-6E15-4DA7-85EC2A17F6D3}"/>
              </a:ext>
            </a:extLst>
          </p:cNvPr>
          <p:cNvSpPr txBox="1">
            <a:spLocks/>
          </p:cNvSpPr>
          <p:nvPr/>
        </p:nvSpPr>
        <p:spPr>
          <a:xfrm>
            <a:off x="8574156" y="5486400"/>
            <a:ext cx="2609972" cy="357809"/>
          </a:xfrm>
          <a:prstGeom prst="rect">
            <a:avLst/>
          </a:prstGeom>
        </p:spPr>
        <p:txBody>
          <a:bodyPr vert="horz" lIns="0" rIns="18288" rtlCol="0">
            <a:normAutofit fontScale="62500" lnSpcReduction="20000"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Nombre: Ivonne Jaque N.</a:t>
            </a:r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L" dirty="0"/>
              <a:t>¿Qué es Business </a:t>
            </a:r>
            <a:r>
              <a:rPr lang="es-CL" dirty="0" err="1"/>
              <a:t>Intelligence</a:t>
            </a:r>
            <a:r>
              <a:rPr lang="es-CL" dirty="0"/>
              <a:t> (BI)?</a:t>
            </a:r>
            <a:endParaRPr lang="es-ES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2571584"/>
            <a:ext cx="10972800" cy="3075433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s-MX" sz="2000" dirty="0"/>
              <a:t>Business </a:t>
            </a:r>
            <a:r>
              <a:rPr lang="es-MX" sz="2000" dirty="0" err="1"/>
              <a:t>Intelligence</a:t>
            </a:r>
            <a:r>
              <a:rPr lang="es-MX" sz="2000" dirty="0"/>
              <a:t> (BI) es un conjunto de herramientas y procesos que permite transformar datos en información útil para apoyar la toma de decisiones.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Su importancia está en que ayuda a las empresas a conocer mejor sus resultados, identificar problemas y analizar información de manera más rápida y clara.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En el caso de </a:t>
            </a:r>
            <a:r>
              <a:rPr lang="es-MX" sz="2000" dirty="0" err="1"/>
              <a:t>SmartRetail</a:t>
            </a:r>
            <a:r>
              <a:rPr lang="es-MX" sz="2000" dirty="0"/>
              <a:t>, BI permite analizar las ventas y conocer el estado del inventario de sus tiendas.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L" dirty="0"/>
              <a:t>Comparación de herramientas BI</a:t>
            </a:r>
            <a:endParaRPr lang="es-ES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609600" y="2121010"/>
            <a:ext cx="10972800" cy="4389120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Power BI</a:t>
            </a:r>
          </a:p>
          <a:p>
            <a:endParaRPr lang="es-MX" dirty="0"/>
          </a:p>
          <a:p>
            <a:r>
              <a:rPr lang="es-MX" dirty="0"/>
              <a:t>Es fácil de utilizar y tiene una interfaz amigable.</a:t>
            </a:r>
          </a:p>
          <a:p>
            <a:r>
              <a:rPr lang="es-MX" dirty="0"/>
              <a:t>Se integra con herramientas de Microsoft como Excel.</a:t>
            </a:r>
          </a:p>
          <a:p>
            <a:r>
              <a:rPr lang="es-MX" dirty="0"/>
              <a:t>Permite crear gráficos, tablas y filtros interactivos.</a:t>
            </a:r>
          </a:p>
          <a:p>
            <a:r>
              <a:rPr lang="es-MX" dirty="0"/>
              <a:t>Es una buena alternativa para empresas que necesitan analizar información de manera clara.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Tableau</a:t>
            </a:r>
            <a:endParaRPr lang="es-MX" dirty="0"/>
          </a:p>
          <a:p>
            <a:endParaRPr lang="es-MX" dirty="0"/>
          </a:p>
          <a:p>
            <a:r>
              <a:rPr lang="es-MX" dirty="0"/>
              <a:t>Permite crear visualizaciones y </a:t>
            </a:r>
            <a:r>
              <a:rPr lang="es-MX" dirty="0" err="1"/>
              <a:t>dashboards</a:t>
            </a:r>
            <a:r>
              <a:rPr lang="es-MX" dirty="0"/>
              <a:t> interactivos.</a:t>
            </a:r>
          </a:p>
          <a:p>
            <a:r>
              <a:rPr lang="es-MX" dirty="0"/>
              <a:t>Tiene buenas herramientas para explorar y presentar datos.</a:t>
            </a:r>
          </a:p>
          <a:p>
            <a:r>
              <a:rPr lang="es-MX" dirty="0"/>
              <a:t>Puede requerir mayor aprendizaje para usuarios que recién comienzan.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b="1" dirty="0"/>
              <a:t>Para </a:t>
            </a:r>
            <a:r>
              <a:rPr lang="es-MX" b="1" dirty="0" err="1"/>
              <a:t>SmartRetail</a:t>
            </a:r>
            <a:r>
              <a:rPr lang="es-MX" b="1" dirty="0"/>
              <a:t>, Power BI es una buena opción porque permite integrar los datos de ventas e inventario y presentarlos de forma sencilla y visual.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L" dirty="0"/>
              <a:t>Power BI aplicado a </a:t>
            </a:r>
            <a:r>
              <a:rPr lang="es-CL" dirty="0" err="1"/>
              <a:t>SmartRetail</a:t>
            </a:r>
            <a:endParaRPr lang="es-ES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0" indent="0">
              <a:buNone/>
            </a:pPr>
            <a:r>
              <a:rPr lang="es-CL" b="1" dirty="0"/>
              <a:t>Características de Power BI</a:t>
            </a:r>
            <a:endParaRPr lang="es-CL" dirty="0"/>
          </a:p>
          <a:p>
            <a:pPr lvl="0"/>
            <a:r>
              <a:rPr lang="es-CL" dirty="0"/>
              <a:t>Permite conectar diferentes fuentes de datos. </a:t>
            </a:r>
          </a:p>
          <a:p>
            <a:pPr lvl="0"/>
            <a:r>
              <a:rPr lang="es-CL" dirty="0"/>
              <a:t>Facilita la limpieza y organización de la información. </a:t>
            </a:r>
          </a:p>
          <a:p>
            <a:pPr lvl="0"/>
            <a:r>
              <a:rPr lang="es-CL" dirty="0"/>
              <a:t>Permite crear gráficos, tablas y filtros interactivos. </a:t>
            </a:r>
          </a:p>
          <a:p>
            <a:pPr lvl="0"/>
            <a:r>
              <a:rPr lang="es-CL" dirty="0"/>
              <a:t>Los datos se presentan de manera clara y fácil de analizar. </a:t>
            </a:r>
          </a:p>
          <a:p>
            <a:pPr marL="0" indent="0">
              <a:buNone/>
            </a:pPr>
            <a:endParaRPr lang="es-CL" b="1" dirty="0"/>
          </a:p>
          <a:p>
            <a:pPr marL="0" indent="0">
              <a:buNone/>
            </a:pPr>
            <a:r>
              <a:rPr lang="es-CL" b="1" dirty="0"/>
              <a:t>Aplicación en </a:t>
            </a:r>
            <a:r>
              <a:rPr lang="es-CL" b="1" dirty="0" err="1"/>
              <a:t>SmartRetail</a:t>
            </a:r>
            <a:endParaRPr lang="es-CL" dirty="0"/>
          </a:p>
          <a:p>
            <a:r>
              <a:rPr lang="es-CL" dirty="0"/>
              <a:t>Power BI permitió integrar la información de </a:t>
            </a:r>
            <a:r>
              <a:rPr lang="es-CL" b="1" dirty="0"/>
              <a:t>ventas e inventario</a:t>
            </a:r>
            <a:r>
              <a:rPr lang="es-CL" dirty="0"/>
              <a:t>, visualizar las ventas por categoría y revisar el stock de los productos en cada tienda.</a:t>
            </a:r>
          </a:p>
          <a:p>
            <a:pPr marL="0" indent="0" rtl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085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L" dirty="0" err="1"/>
              <a:t>Dashboard</a:t>
            </a:r>
            <a:r>
              <a:rPr lang="es-CL" dirty="0"/>
              <a:t> </a:t>
            </a:r>
            <a:r>
              <a:rPr lang="es-CL" dirty="0" err="1"/>
              <a:t>SmartRetail</a:t>
            </a:r>
            <a:endParaRPr lang="es-ES" dirty="0"/>
          </a:p>
        </p:txBody>
      </p:sp>
      <p:sp>
        <p:nvSpPr>
          <p:cNvPr id="8" name="Marcador de contenido 1"/>
          <p:cNvSpPr txBox="1">
            <a:spLocks/>
          </p:cNvSpPr>
          <p:nvPr/>
        </p:nvSpPr>
        <p:spPr>
          <a:xfrm>
            <a:off x="609600" y="1847088"/>
            <a:ext cx="10972800" cy="438912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es-CL" dirty="0"/>
              <a:t>Se creó un </a:t>
            </a:r>
            <a:r>
              <a:rPr lang="es-CL" dirty="0" err="1"/>
              <a:t>dashboard</a:t>
            </a:r>
            <a:r>
              <a:rPr lang="es-CL" dirty="0"/>
              <a:t> que permite:</a:t>
            </a:r>
          </a:p>
          <a:p>
            <a:r>
              <a:rPr lang="es-CL" dirty="0"/>
              <a:t>Visualizar las </a:t>
            </a:r>
            <a:r>
              <a:rPr lang="es-CL" b="1" dirty="0"/>
              <a:t>ventas totales por categoría</a:t>
            </a:r>
            <a:r>
              <a:rPr lang="es-CL" dirty="0"/>
              <a:t>. </a:t>
            </a:r>
          </a:p>
          <a:p>
            <a:r>
              <a:rPr lang="es-CL" dirty="0"/>
              <a:t>Revisar el </a:t>
            </a:r>
            <a:r>
              <a:rPr lang="es-CL" b="1" dirty="0"/>
              <a:t>stock y estado del inventario</a:t>
            </a:r>
            <a:r>
              <a:rPr lang="es-CL" dirty="0"/>
              <a:t>. </a:t>
            </a:r>
          </a:p>
          <a:p>
            <a:r>
              <a:rPr lang="es-CL" dirty="0"/>
              <a:t>Filtrar la información por </a:t>
            </a:r>
            <a:r>
              <a:rPr lang="es-CL" b="1" dirty="0"/>
              <a:t>tienda</a:t>
            </a:r>
            <a:r>
              <a:rPr lang="es-CL" dirty="0"/>
              <a:t>. </a:t>
            </a:r>
          </a:p>
          <a:p>
            <a:r>
              <a:rPr lang="es-CL" dirty="0"/>
              <a:t>Consultar los datos de manera clara y rápida. </a:t>
            </a:r>
          </a:p>
          <a:p>
            <a:pPr marL="0" indent="0">
              <a:buFont typeface="Wingdings 2"/>
              <a:buNone/>
            </a:pPr>
            <a:endParaRPr lang="es-CL" b="1" dirty="0"/>
          </a:p>
          <a:p>
            <a:pPr marL="0" indent="0">
              <a:buFont typeface="Wingdings 2"/>
              <a:buNone/>
            </a:pPr>
            <a:r>
              <a:rPr lang="es-CL" b="1" dirty="0"/>
              <a:t>Conclusión:</a:t>
            </a:r>
            <a:r>
              <a:rPr lang="es-CL" dirty="0"/>
              <a:t> Power BI facilita el análisis de la información y apoya una mejor toma de decisiones en </a:t>
            </a:r>
            <a:r>
              <a:rPr lang="es-CL" dirty="0" err="1"/>
              <a:t>SmartRetail</a:t>
            </a:r>
            <a:r>
              <a:rPr lang="es-CL" dirty="0"/>
              <a:t>.</a:t>
            </a:r>
          </a:p>
          <a:p>
            <a:pPr marL="0" indent="0">
              <a:buFont typeface="Wingdings 2"/>
              <a:buNone/>
            </a:pP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23B5CE0-E1AF-6A63-9AC1-D93BC61A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277" y="2371170"/>
            <a:ext cx="3559141" cy="167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ción de lluvia de idea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849_TF03460637.potx" id="{F200C24D-A64B-40C8-A076-385076850F7D}" vid="{61DF3097-A1CE-41D9-9E7C-2786F60E7D4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lluvia de ideas de empresa</Template>
  <TotalTime>159</TotalTime>
  <Words>339</Words>
  <Application>Microsoft Office PowerPoint</Application>
  <PresentationFormat>Panorámica</PresentationFormat>
  <Paragraphs>46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Calibri</vt:lpstr>
      <vt:lpstr>Century Gothic</vt:lpstr>
      <vt:lpstr>Palatino Linotype</vt:lpstr>
      <vt:lpstr>Wingdings 2</vt:lpstr>
      <vt:lpstr>Presentación de lluvia de ideas</vt:lpstr>
      <vt:lpstr>Dashboard de Ventas e Inventario – SmartRetail</vt:lpstr>
      <vt:lpstr>¿Qué es Business Intelligence (BI)?</vt:lpstr>
      <vt:lpstr>Comparación de herramientas BI</vt:lpstr>
      <vt:lpstr>Power BI aplicado a SmartRetail</vt:lpstr>
      <vt:lpstr>Dashboard SmartRetail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Ivonne Jaque</dc:creator>
  <cp:lastModifiedBy>Ivonne Jaque</cp:lastModifiedBy>
  <cp:revision>2</cp:revision>
  <dcterms:created xsi:type="dcterms:W3CDTF">2026-08-24T18:45:19Z</dcterms:created>
  <dcterms:modified xsi:type="dcterms:W3CDTF">2026-08-24T21:25:13Z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